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6b350093f4421a" /><Relationship Type="http://schemas.openxmlformats.org/officeDocument/2006/relationships/extended-properties" Target="/docProps/app.xml" Id="Re439476e616c4610" /><Relationship Type="http://schemas.openxmlformats.org/officeDocument/2006/relationships/officeDocument" Target="/ppt/presentation.xml" Id="R8762557ff46c4e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d8800fe01c4335"/>
  </p:sldMasterIdLst>
  <p:notesMasterIdLst>
    <p:notesMasterId xmlns:r="http://schemas.openxmlformats.org/officeDocument/2006/relationships" r:id="Rc677ec0142de420d"/>
  </p:notesMasterIdLst>
  <p:sldIdLst>
    <p:sldId xmlns:r="http://schemas.openxmlformats.org/officeDocument/2006/relationships" id="256" r:id="Rdcb3982f22fc4e26"/>
    <p:sldId xmlns:r="http://schemas.openxmlformats.org/officeDocument/2006/relationships" id="257" r:id="R5ba4f352f15d4a98"/>
    <p:sldId xmlns:r="http://schemas.openxmlformats.org/officeDocument/2006/relationships" id="258" r:id="Rc6afe92d47b44b87"/>
    <p:sldId xmlns:r="http://schemas.openxmlformats.org/officeDocument/2006/relationships" id="259" r:id="R712cedf3fc7b4dff"/>
    <p:sldId xmlns:r="http://schemas.openxmlformats.org/officeDocument/2006/relationships" id="260" r:id="R5b815795fa8941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25eb569f1647a3" /><Relationship Type="http://schemas.openxmlformats.org/officeDocument/2006/relationships/slideMaster" Target="/ppt/slideMasters/slideMaster1.xml" Id="Rf2d8800fe01c4335" /><Relationship Type="http://schemas.openxmlformats.org/officeDocument/2006/relationships/notesMaster" Target="/ppt/notesMasters/notesMaster1.xml" Id="Rc677ec0142de420d" /><Relationship Type="http://schemas.openxmlformats.org/officeDocument/2006/relationships/presProps" Target="/ppt/presProps.xml" Id="R0a719eb1d84d4d73" /><Relationship Type="http://schemas.openxmlformats.org/officeDocument/2006/relationships/tableStyles" Target="/ppt/tableStyles.xml" Id="Rfacaae8986d84d67" /><Relationship Type="http://schemas.openxmlformats.org/officeDocument/2006/relationships/slide" Target="/ppt/slides/slide1.xml" Id="Rdcb3982f22fc4e26" /><Relationship Type="http://schemas.openxmlformats.org/officeDocument/2006/relationships/slide" Target="/ppt/slides/slide2.xml" Id="R5ba4f352f15d4a98" /><Relationship Type="http://schemas.openxmlformats.org/officeDocument/2006/relationships/slide" Target="/ppt/slides/slide3.xml" Id="Rc6afe92d47b44b87" /><Relationship Type="http://schemas.openxmlformats.org/officeDocument/2006/relationships/slide" Target="/ppt/slides/slide4.xml" Id="R712cedf3fc7b4dff" /><Relationship Type="http://schemas.openxmlformats.org/officeDocument/2006/relationships/slide" Target="/ppt/slides/slide5.xml" Id="R5b815795fa8941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09687ef38845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0d80bfd49f4a3a" /><Relationship Type="http://schemas.openxmlformats.org/officeDocument/2006/relationships/notesMaster" Target="/ppt/notesMasters/notesMaster1.xml" Id="Rd76a0c3b77414c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e2bc83339a4792" /><Relationship Type="http://schemas.openxmlformats.org/officeDocument/2006/relationships/notesMaster" Target="/ppt/notesMasters/notesMaster1.xml" Id="R7ffc1b73ddcc46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2dc98cfd284136" /><Relationship Type="http://schemas.openxmlformats.org/officeDocument/2006/relationships/notesMaster" Target="/ppt/notesMasters/notesMaster1.xml" Id="R383fa4d2974941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838bc0b7d4458e" /><Relationship Type="http://schemas.openxmlformats.org/officeDocument/2006/relationships/notesMaster" Target="/ppt/notesMasters/notesMaster1.xml" Id="R56f4dce89b9e48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f524777ee14b18" /><Relationship Type="http://schemas.openxmlformats.org/officeDocument/2006/relationships/notesMaster" Target="/ppt/notesMasters/notesMaster1.xml" Id="R443efcc23a3242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documentation, 21 October 2026. Source: Me.IDs Entra onboarding runbook.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Layer separation follows the Me.IDs target architecture. Authentication, admission, provisioning, and data authorization remain independent controls.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employee role maps to the Me.IDs viewer role. The backend additionally checks that the resolved identity ends in @eraneos.com before JIT provisioning.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Owner rights do not bypass tenant boundaries, row-level security, or knowledge visibility. Group-to-app-role assignment follows Microsoft Entra enterprise application guidance: https://learn.microsoft.com/en-us/entra/identity/enterprise-apps/assign-user-or-group-access-portal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Guest lifecycle references Microsoft Entra B2B and access reviews: https://learn.microsoft.com/en-us/entra/external-id/what-is-b2b and https://learn.microsoft.com/en-us/entra/id-governance/access-reviews-overview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b0082872b24cc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3a70bd8d20418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9438bbf0eb4e3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6ae51702144aa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e689c7023b4c3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a34b368c9647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D234BB-74AA-4EB3-AEFE-9296885560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0A7790F-3C18-4C94-BCAA-1CBD2FF421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DBCAB51-4B7A-4C6E-8065-EC5F1F4786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7EFF68-33A6-41F2-B4C7-4F75737128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8A10C51-262C-4A54-86D9-2E07562DF5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7CCD183-5F1D-4C31-A423-D934EDEDD0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8C057B-0F09-42EA-B5F9-D406C4DCD0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6DBF6AC-F732-4EA2-8096-75C8B9DE988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169798-2D8F-4403-852D-F16DA39FD0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1CF8DE-FA80-4A7A-8653-98B1B1E76C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9e316060544a3b" /><Relationship Type="http://schemas.openxmlformats.org/officeDocument/2006/relationships/slideLayout" Target="/ppt/slideLayouts/slideLayout1.xml" Id="Ra2a445814b394671" /><Relationship Type="http://schemas.openxmlformats.org/officeDocument/2006/relationships/slideLayout" Target="/ppt/slideLayouts/slideLayout2.xml" Id="R3edb95591b1c42c3" /><Relationship Type="http://schemas.openxmlformats.org/officeDocument/2006/relationships/slideLayout" Target="/ppt/slideLayouts/slideLayout3.xml" Id="R1a9da4a8042c4a91" /><Relationship Type="http://schemas.openxmlformats.org/officeDocument/2006/relationships/slideLayout" Target="/ppt/slideLayouts/slideLayout4.xml" Id="Re5d00db1f59f482c" /><Relationship Type="http://schemas.openxmlformats.org/officeDocument/2006/relationships/slideLayout" Target="/ppt/slideLayouts/slideLayout5.xml" Id="R46041fa472d34875" /><Relationship Type="http://schemas.openxmlformats.org/officeDocument/2006/relationships/slideLayout" Target="/ppt/slideLayouts/slideLayout6.xml" Id="R4a9442c75c5f4e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a445814b394671"/>
    <p:sldLayoutId xmlns:r="http://schemas.openxmlformats.org/officeDocument/2006/relationships" id="2147483650" r:id="R3edb95591b1c42c3"/>
    <p:sldLayoutId xmlns:r="http://schemas.openxmlformats.org/officeDocument/2006/relationships" id="2147483651" r:id="R1a9da4a8042c4a91"/>
    <p:sldLayoutId xmlns:r="http://schemas.openxmlformats.org/officeDocument/2006/relationships" id="2147483652" r:id="Re5d00db1f59f482c"/>
    <p:sldLayoutId xmlns:r="http://schemas.openxmlformats.org/officeDocument/2006/relationships" id="2147483653" r:id="R46041fa472d34875"/>
    <p:sldLayoutId xmlns:r="http://schemas.openxmlformats.org/officeDocument/2006/relationships" id="2147483654" r:id="R4a9442c75c5f4e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2fb451c2ad4341" /><Relationship Type="http://schemas.openxmlformats.org/officeDocument/2006/relationships/notesSlide" Target="/ppt/notesSlides/notesSlide1.xml" Id="Rc4e548d3b73747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a70a4725a64044" /><Relationship Type="http://schemas.openxmlformats.org/officeDocument/2006/relationships/notesSlide" Target="/ppt/notesSlides/notesSlide2.xml" Id="Ra7c0a454528f44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cf2b7e47274530" /><Relationship Type="http://schemas.openxmlformats.org/officeDocument/2006/relationships/notesSlide" Target="/ppt/notesSlides/notesSlide3.xml" Id="Ra80920c6e1f74e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1ba6f1390f4806" /><Relationship Type="http://schemas.openxmlformats.org/officeDocument/2006/relationships/notesSlide" Target="/ppt/notesSlides/notesSlide4.xml" Id="Rf83fe6d921a043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0dd6d2fe0940ca" /><Relationship Type="http://schemas.openxmlformats.org/officeDocument/2006/relationships/notesSlide" Target="/ppt/notesSlides/notesSlide5.xml" Id="Rf2d0b77efb9040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F9EBB-4002-4ECA-8CD1-1D40D83EB453}"/>
              </a:ext>
            </a:extLst>
          </p:cNvPr>
          <p:cNvCxnSpPr>
            <a:stCxn xmlns:a="http://schemas.openxmlformats.org/drawingml/2006/main" id="5" idx="4"/>
            <a:endCxn xmlns:a="http://schemas.openxmlformats.org/drawingml/2006/main" id="6" idx="6"/>
          </p:cNvCxnSpPr>
          <p:nvPr/>
        </p:nvCxnSpPr>
        <p:spPr>
          <a:xfrm xmlns:a="http://schemas.openxmlformats.org/drawingml/2006/main" rot="5400000">
            <a:off x="9015413" y="3900488"/>
            <a:ext cx="923925" cy="590550"/>
          </a:xfrm>
          <a:prstGeom xmlns:a="http://schemas.openxmlformats.org/drawingml/2006/main" prst="curvedConnector3">
            <a:avLst>
              <a:gd name="adj1" fmla="val 41129"/>
            </a:avLst>
          </a:prstGeom>
          <a:ln xmlns:a="http://schemas.openxmlformats.org/drawingml/2006/main" w="19050">
            <a:solidFill>
              <a:srgbClr val="396A9F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0DA14-B7F0-49FF-BDB5-D3AAB7060080}"/>
              </a:ext>
            </a:extLst>
          </p:cNvPr>
          <p:cNvCxnSpPr>
            <a:stCxn xmlns:a="http://schemas.openxmlformats.org/drawingml/2006/main" id="4" idx="4"/>
            <a:endCxn xmlns:a="http://schemas.openxmlformats.org/drawingml/2006/main" id="5" idx="0"/>
          </p:cNvCxnSpPr>
          <p:nvPr/>
        </p:nvCxnSpPr>
        <p:spPr>
          <a:xfrm xmlns:a="http://schemas.openxmlformats.org/drawingml/2006/main" rot="16200000" flipH="1">
            <a:off x="8639175" y="1552575"/>
            <a:ext cx="400050" cy="18669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B7A70"/>
            </a:solidFill>
            <a:prstDash val="soli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BFFB5E-0205-4981-817C-B4C0FC8A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2B7A70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2B7A70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2B7A70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2B7A70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2B7A70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2B7A70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2B7A70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2B7A70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2B7A70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2B7A7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B7A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7A70"/>
                </a:solidFill>
                <a:latin typeface="Aptos"/>
                <a:ea typeface="Aptos"/>
                <a:cs typeface="Aptos"/>
              </a:rPr>
              <a:t>ME.IDS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6C43D-0B35-4895-AEC6-C1A37B7B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40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>
              <a:defRPr sz="40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>
              <a:defRPr sz="40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>
              <a:defRPr sz="40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>
              <a:defRPr sz="40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>
              <a:defRPr sz="40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>
              <a:defRPr sz="40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>
              <a:defRPr sz="40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>
              <a:defRPr sz="40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>
              <a:defRPr sz="40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Authentication</a:t>
            </a:r>
          </a:p>
          <a:p xmlns:a="http://schemas.openxmlformats.org/drawingml/2006/main">
            <a:pPr>
              <a:defRPr sz="40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and access rights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C141E-C1B0-4044-9DFD-F9CA0D12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68655F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6865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68655F"/>
                </a:solidFill>
                <a:latin typeface="Aptos"/>
                <a:ea typeface="Aptos"/>
                <a:cs typeface="Aptos"/>
              </a:rPr>
              <a:t>Microsoft Entra establishes identity and application admission. Me.IDs controls twins, knowledge, and privileges in PostgreSQL.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20746-B6B6-45D2-B062-0FCE8694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238250"/>
            <a:ext cx="209550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14288">
            <a:solidFill>
              <a:srgbClr val="2B7A70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IDENTITY</a:t>
            </a:r>
          </a:p>
          <a:p xmlns:a="http://schemas.openxmlformats.org/drawingml/2006/main">
            <a: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Entra sign-in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FDB7E-B286-47E5-BD55-DCC0E5B7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86050"/>
            <a:ext cx="209550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EF7"/>
          </a:solidFill>
          <a:ln xmlns:a="http://schemas.openxmlformats.org/drawingml/2006/main" w="14288">
            <a:solidFill>
              <a:srgbClr val="396A9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ADMISSION</a:t>
            </a:r>
          </a:p>
          <a:p xmlns:a="http://schemas.openxmlformats.org/drawingml/2006/main">
            <a: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App role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54D47-3BEA-4747-964A-86D09483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33850"/>
            <a:ext cx="247650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14288">
            <a:solidFill>
              <a:srgbClr val="56634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DATA ACCESS</a:t>
            </a:r>
          </a:p>
          <a:p xmlns:a="http://schemas.openxmlformats.org/drawingml/2006/main">
            <a:pPr algn="ctr">
              <a:defRPr sz="142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Twin and knowledge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19ADC-B387-4D6C-B646-E9185767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007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One login. Separate control decisions.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E7C58-1872-43F4-A6AC-12DD652D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solidFill>
              <a:srgbClr val="D8D5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073C45-DC9A-4072-B8C6-0F47E0AC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defPPr>
            <a:lvl1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1pPr>
            <a:lvl2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2pPr>
            <a:lvl3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3pPr>
            <a:lvl4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4pPr>
            <a:lvl5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5pPr>
            <a:lvl6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6pPr>
            <a:lvl7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7pPr>
            <a:lvl8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8pPr>
            <a:lvl9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8655F"/>
                </a:solidFill>
                <a:latin typeface="Aptos"/>
                <a:ea typeface="Aptos"/>
                <a:cs typeface="Aptos"/>
              </a:rPr>
              <a:t>Me.IDs authentication and access rights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C30F5-5099-445C-B6B6-2BE4B4E3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defPPr>
            <a:lvl1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1pPr>
            <a:lvl2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2pPr>
            <a:lvl3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3pPr>
            <a:lvl4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4pPr>
            <a:lvl5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5pPr>
            <a:lvl6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6pPr>
            <a:lvl7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7pPr>
            <a:lvl8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8pPr>
            <a:lvl9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8655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415348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294BD4-66A6-4641-AFAA-738EEE4C8260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572500" y="36099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1916"/>
            </a:solidFill>
            <a:prstDash val="soli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4797B9-2D02-4AEE-A38F-38450887FFD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791200" y="36099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1916"/>
            </a:solidFill>
            <a:prstDash val="solid"/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D9061A-529D-4831-907D-622346C5F6D0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09900" y="36099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1916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4585A0-5DD2-41A0-B42B-030740D5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Four enforcement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0266C-CBB7-46FF-917A-9CE979DB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8655F"/>
                </a:solidFill>
                <a:latin typeface="Aptos"/>
                <a:ea typeface="Aptos"/>
                <a:cs typeface="Aptos"/>
              </a:rPr>
              <a:t>Each layer answers a different access question.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A13D5-519C-4F39-8BE0-6C257F2D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400300" cy="41719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E7F3F0"/>
          </a:solidFill>
          <a:ln xmlns:a="http://schemas.openxmlformats.org/drawingml/2006/main" w="14288">
            <a:solidFill>
              <a:srgbClr val="2B7A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B36BE-3E72-42DA-B400-C659AFF4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2B7A70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2B7A70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2B7A70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2B7A70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2B7A70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2B7A70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2B7A70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2B7A70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2B7A70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2B7A7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B7A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7A70"/>
                </a:solidFill>
                <a:latin typeface="Aptos"/>
                <a:ea typeface="Aptos"/>
                <a:cs typeface="Aptos"/>
              </a:rPr>
              <a:t>1  IDENTITY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81CB0-4D38-4038-9CD1-C84B1EBC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2019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Who signed in?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4837E-CB6F-4FC7-B441-617AA9F2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2019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defPPr>
            <a:lvl1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1pPr>
            <a:lvl2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2pPr>
            <a:lvl3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3pPr>
            <a:lvl4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4pPr>
            <a:lvl5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5pPr>
            <a:lvl6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6pPr>
            <a:lvl7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7pPr>
            <a:lvl8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8pPr>
            <a:lvl9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68655F"/>
                </a:solidFill>
                <a:latin typeface="Aptos"/>
                <a:ea typeface="Aptos"/>
                <a:cs typeface="Aptos"/>
              </a:rPr>
              <a:t>Microsoft Entra</a:t>
            </a:r>
          </a:p>
          <a:p xmlns:a="http://schemas.openxmlformats.org/drawingml/2006/main">
            <a: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68655F"/>
                </a:solidFill>
                <a:latin typeface="Aptos"/>
                <a:ea typeface="Aptos"/>
                <a:cs typeface="Aptos"/>
              </a:rPr>
              <a:t>MFA and tenant policy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5B06C-5409-4C45-BC7F-7FA26613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24000"/>
            <a:ext cx="2400300" cy="41719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4288">
            <a:solidFill>
              <a:srgbClr val="396A9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E3FCC6-F73F-4D99-8A6A-42E7A32D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33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396A9F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396A9F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396A9F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396A9F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396A9F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396A9F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396A9F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396A9F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396A9F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396A9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96A9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96A9F"/>
                </a:solidFill>
                <a:latin typeface="Aptos"/>
                <a:ea typeface="Aptos"/>
                <a:cs typeface="Aptos"/>
              </a:rPr>
              <a:t>2  ADMISSION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A42C2-57DD-4E95-962B-FB99F720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05050"/>
            <a:ext cx="2019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May this identity enter?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EA5DC-51BE-4059-A950-08743FB9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90950"/>
            <a:ext cx="2019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defPPr>
            <a:lvl1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1pPr>
            <a:lvl2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2pPr>
            <a:lvl3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3pPr>
            <a:lvl4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4pPr>
            <a:lvl5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5pPr>
            <a:lvl6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6pPr>
            <a:lvl7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7pPr>
            <a:lvl8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8pPr>
            <a:lvl9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68655F"/>
                </a:solidFill>
                <a:latin typeface="Aptos"/>
                <a:ea typeface="Aptos"/>
                <a:cs typeface="Aptos"/>
              </a:rPr>
              <a:t>Enterprise app</a:t>
            </a:r>
          </a:p>
          <a:p xmlns:a="http://schemas.openxmlformats.org/drawingml/2006/main">
            <a: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68655F"/>
                </a:solidFill>
                <a:latin typeface="Aptos"/>
                <a:ea typeface="Aptos"/>
                <a:cs typeface="Aptos"/>
              </a:rPr>
              <a:t>Direct group to app role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4C355-FB67-4EB4-88E8-BAF663C7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24000"/>
            <a:ext cx="2400300" cy="41719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14288">
            <a:solidFill>
              <a:srgbClr val="B274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BA77E-11A7-4611-B26D-E29CAAD2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33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B27400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B27400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B27400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B27400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B27400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B27400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B27400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B27400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B27400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B2740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B274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27400"/>
                </a:solidFill>
                <a:latin typeface="Aptos"/>
                <a:ea typeface="Aptos"/>
                <a:cs typeface="Aptos"/>
              </a:rPr>
              <a:t>3  PROVISIONING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331F87-CD56-4BF3-BA36-3BB5E920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05050"/>
            <a:ext cx="2019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Does Me.IDs know the user?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C19539-6AD3-497C-8C4B-A5EC8E3D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90950"/>
            <a:ext cx="2019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defPPr>
            <a:lvl1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1pPr>
            <a:lvl2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2pPr>
            <a:lvl3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3pPr>
            <a:lvl4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4pPr>
            <a:lvl5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5pPr>
            <a:lvl6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6pPr>
            <a:lvl7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7pPr>
            <a:lvl8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8pPr>
            <a:lvl9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68655F"/>
                </a:solidFill>
                <a:latin typeface="Aptos"/>
                <a:ea typeface="Aptos"/>
                <a:cs typeface="Aptos"/>
              </a:rPr>
              <a:t>Backend JIT</a:t>
            </a:r>
          </a:p>
          <a:p xmlns:a="http://schemas.openxmlformats.org/drawingml/2006/main">
            <a: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68655F"/>
                </a:solidFill>
                <a:latin typeface="Aptos"/>
                <a:ea typeface="Aptos"/>
                <a:cs typeface="Aptos"/>
              </a:rPr>
              <a:t>identity.app_user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BF3333-A3B0-43ED-B7E4-EF768F9E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24000"/>
            <a:ext cx="2400300" cy="41719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EEF0EC"/>
          </a:solidFill>
          <a:ln xmlns:a="http://schemas.openxmlformats.org/drawingml/2006/main" w="14288">
            <a:solidFill>
              <a:srgbClr val="5663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73F44B-5617-49CE-9A81-32BA7FF5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33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56634F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56634F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56634F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56634F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56634F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56634F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56634F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56634F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56634F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56634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6634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6634F"/>
                </a:solidFill>
                <a:latin typeface="Aptos"/>
                <a:ea typeface="Aptos"/>
                <a:cs typeface="Aptos"/>
              </a:rPr>
              <a:t>4  DATA RIGHTS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E7154A-A971-4387-A9C6-25288E0A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05050"/>
            <a:ext cx="2019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What may the user see?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AADCE5-2D71-4F28-86E6-CD9CD26C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90950"/>
            <a:ext cx="2019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defPPr>
            <a:lvl1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1pPr>
            <a:lvl2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2pPr>
            <a:lvl3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3pPr>
            <a:lvl4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4pPr>
            <a:lvl5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5pPr>
            <a:lvl6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6pPr>
            <a:lvl7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7pPr>
            <a:lvl8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8pPr>
            <a:lvl9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68655F"/>
                </a:solidFill>
                <a:latin typeface="Aptos"/>
                <a:ea typeface="Aptos"/>
                <a:cs typeface="Aptos"/>
              </a:rPr>
              <a:t>Twin mapping</a:t>
            </a:r>
          </a:p>
          <a:p xmlns:a="http://schemas.openxmlformats.org/drawingml/2006/main">
            <a:pPr>
              <a:defRPr sz="1425">
                <a:solidFill>
                  <a:srgbClr val="68655F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68655F"/>
                </a:solidFill>
                <a:latin typeface="Aptos"/>
                <a:ea typeface="Aptos"/>
                <a:cs typeface="Aptos"/>
              </a:rPr>
              <a:t>PostgreSQL RLS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BC7ECB-16ED-49E9-9D98-6E3BA110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924550"/>
            <a:ext cx="7696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5CC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84871"/>
          </a:bodyPr>
          <a:lstStyle xmlns:a="http://schemas.openxmlformats.org/drawingml/2006/main">
            <a:def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Authentication alone never grants access to another user's twin or private knowledge.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09F1AA-6017-4A80-B577-FF9397E0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solidFill>
              <a:srgbClr val="D8D5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E05795-64CA-4DB2-9374-13582737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defPPr>
            <a:lvl1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1pPr>
            <a:lvl2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2pPr>
            <a:lvl3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3pPr>
            <a:lvl4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4pPr>
            <a:lvl5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5pPr>
            <a:lvl6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6pPr>
            <a:lvl7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7pPr>
            <a:lvl8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8pPr>
            <a:lvl9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8655F"/>
                </a:solidFill>
                <a:latin typeface="Aptos"/>
                <a:ea typeface="Aptos"/>
                <a:cs typeface="Aptos"/>
              </a:rPr>
              <a:t>Me.IDs authentication and access rights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4969DA-87FF-4A69-929F-01B01231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defPPr>
            <a:lvl1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1pPr>
            <a:lvl2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2pPr>
            <a:lvl3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3pPr>
            <a:lvl4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4pPr>
            <a:lvl5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5pPr>
            <a:lvl6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6pPr>
            <a:lvl7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7pPr>
            <a:lvl8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8pPr>
            <a:lvl9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8655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65581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3A1AF-F5F1-415C-AA85-97E645D71E1B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5391150" y="3314700"/>
            <a:ext cx="1724025" cy="1104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6453A"/>
            </a:solidFill>
            <a:prstDash val="dash"/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F765CC-D2E2-4A1C-8D3C-62F6D76E554A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829800" y="27622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655F"/>
            </a:solidFill>
            <a:prstDash val="solid"/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AC6435-B561-4F87-BFEE-73CA4CD8B34B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905750" y="27622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655F"/>
            </a:solidFill>
            <a:prstDash val="solid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355BB9-F269-48F9-B96B-7944BA2EA11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981700" y="27622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655F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198F5-BD6C-46C3-92FD-2CABAE9C3DF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057650" y="27622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655F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09B5F7-B3CC-40C8-A661-07AC996D1407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133600" y="27622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655F"/>
            </a:solidFill>
            <a:prstDash val="solid"/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120045-D588-421E-BB29-CD59BEE5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Eraneos employee sign-in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2F07D-8D6A-4049-9DE7-FAF4C20F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8655F"/>
                </a:solidFill>
                <a:latin typeface="Aptos"/>
                <a:ea typeface="Aptos"/>
                <a:cs typeface="Aptos"/>
              </a:rPr>
              <a:t>The existing dynamic workforce group supplies eligibility without copying memberships.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84F07-DDB3-45DB-93C1-B7848149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1581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3F0"/>
          </a:solidFill>
          <a:ln xmlns:a="http://schemas.openxmlformats.org/drawingml/2006/main" w="14288">
            <a:solidFill>
              <a:srgbClr val="2B7A70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Employee</a:t>
            </a:r>
          </a:p>
          <a:p xmlns:a="http://schemas.openxmlformats.org/drawingml/2006/main">
            <a: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@eraneos.com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99F9E-9B07-4F46-9590-2BC37D03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809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70"/>
          </a:solidFill>
          <a:ln xmlns:a="http://schemas.openxmlformats.org/drawingml/2006/main" w="14288">
            <a:solidFill>
              <a:srgbClr val="2B7A70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64542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2E631-2F0E-4A27-B6AA-C139C035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09800"/>
            <a:ext cx="1581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3F0"/>
          </a:solidFill>
          <a:ln xmlns:a="http://schemas.openxmlformats.org/drawingml/2006/main" w="14288">
            <a:solidFill>
              <a:srgbClr val="2B7A70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Entra sign-in</a:t>
            </a:r>
          </a:p>
          <a:p xmlns:a="http://schemas.openxmlformats.org/drawingml/2006/main">
            <a: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MFA and policy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DDC90-C420-4C1D-8459-59F5ADF9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809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70"/>
          </a:solidFill>
          <a:ln xmlns:a="http://schemas.openxmlformats.org/drawingml/2006/main" w="14288">
            <a:solidFill>
              <a:srgbClr val="2B7A70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64542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907C3-C782-4CE8-B1AC-DC90843F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09800"/>
            <a:ext cx="1581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4288">
            <a:solidFill>
              <a:srgbClr val="396A9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Workforce group</a:t>
            </a:r>
          </a:p>
          <a:p xmlns:a="http://schemas.openxmlformats.org/drawingml/2006/main">
            <a: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Direct assignment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2C026-4F74-485C-A744-E7C005F8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809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6A9F"/>
          </a:solidFill>
          <a:ln xmlns:a="http://schemas.openxmlformats.org/drawingml/2006/main" w="14288">
            <a:solidFill>
              <a:srgbClr val="396A9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64542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20DB0-86F8-411D-8456-49A9C081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1581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4288">
            <a:solidFill>
              <a:srgbClr val="396A9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MeIDs.Employee</a:t>
            </a:r>
          </a:p>
          <a:p xmlns:a="http://schemas.openxmlformats.org/drawingml/2006/main">
            <a: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App role claim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74EE8-69FB-4D40-94F3-C27D107B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809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6A9F"/>
          </a:solidFill>
          <a:ln xmlns:a="http://schemas.openxmlformats.org/drawingml/2006/main" w="14288">
            <a:solidFill>
              <a:srgbClr val="396A9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64542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19E826-45E4-41F0-B1EF-6A958397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1581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14288">
            <a:solidFill>
              <a:srgbClr val="B27400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JIT provision</a:t>
            </a:r>
          </a:p>
          <a:p xmlns:a="http://schemas.openxmlformats.org/drawingml/2006/main">
            <a: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Personal app_user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05BFBD-6E80-4505-BE03-860D12A2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7400"/>
          </a:solidFill>
          <a:ln xmlns:a="http://schemas.openxmlformats.org/drawingml/2006/main" w="14288">
            <a:solidFill>
              <a:srgbClr val="B27400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64542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F5D346-6AC2-43AF-B100-EF317F9A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209800"/>
            <a:ext cx="1581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EF0EC"/>
          </a:solidFill>
          <a:ln xmlns:a="http://schemas.openxmlformats.org/drawingml/2006/main" w="14288">
            <a:solidFill>
              <a:srgbClr val="56634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Workspace</a:t>
            </a:r>
          </a:p>
          <a:p xmlns:a="http://schemas.openxmlformats.org/drawingml/2006/main">
            <a: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Own or shared twins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68EC90-61C6-4A59-BFE5-1E502CC7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1809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634F"/>
          </a:solidFill>
          <a:ln xmlns:a="http://schemas.openxmlformats.org/drawingml/2006/main" w="14288">
            <a:solidFill>
              <a:srgbClr val="56634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64542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0E3A35-1BBE-4201-8309-EEB81457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2133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E8E6"/>
          </a:solidFill>
          <a:ln xmlns:a="http://schemas.openxmlformats.org/drawingml/2006/main" w="14288">
            <a:solidFill>
              <a:srgbClr val="B6453A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B6453A"/>
                </a:solidFill>
                <a:latin typeface="Aptos"/>
                <a:ea typeface="Aptos"/>
                <a:cs typeface="Aptos"/>
              </a:defRPr>
            </a:defPPr>
            <a:lvl1pPr algn="ctr">
              <a:defRPr sz="1350" b="1">
                <a:solidFill>
                  <a:srgbClr val="B6453A"/>
                </a:solidFill>
                <a:latin typeface="Aptos"/>
                <a:ea typeface="Aptos"/>
                <a:cs typeface="Aptos"/>
              </a:defRPr>
            </a:lvl1pPr>
            <a:lvl2pPr algn="ctr">
              <a:defRPr sz="1350" b="1">
                <a:solidFill>
                  <a:srgbClr val="B6453A"/>
                </a:solidFill>
                <a:latin typeface="Aptos"/>
                <a:ea typeface="Aptos"/>
                <a:cs typeface="Aptos"/>
              </a:defRPr>
            </a:lvl2pPr>
            <a:lvl3pPr algn="ctr">
              <a:defRPr sz="1350" b="1">
                <a:solidFill>
                  <a:srgbClr val="B6453A"/>
                </a:solidFill>
                <a:latin typeface="Aptos"/>
                <a:ea typeface="Aptos"/>
                <a:cs typeface="Aptos"/>
              </a:defRPr>
            </a:lvl3pPr>
            <a:lvl4pPr algn="ctr">
              <a:defRPr sz="1350" b="1">
                <a:solidFill>
                  <a:srgbClr val="B6453A"/>
                </a:solidFill>
                <a:latin typeface="Aptos"/>
                <a:ea typeface="Aptos"/>
                <a:cs typeface="Aptos"/>
              </a:defRPr>
            </a:lvl4pPr>
            <a:lvl5pPr algn="ctr">
              <a:defRPr sz="1350" b="1">
                <a:solidFill>
                  <a:srgbClr val="B6453A"/>
                </a:solidFill>
                <a:latin typeface="Aptos"/>
                <a:ea typeface="Aptos"/>
                <a:cs typeface="Aptos"/>
              </a:defRPr>
            </a:lvl5pPr>
            <a:lvl6pPr algn="ctr">
              <a:defRPr sz="1350" b="1">
                <a:solidFill>
                  <a:srgbClr val="B6453A"/>
                </a:solidFill>
                <a:latin typeface="Aptos"/>
                <a:ea typeface="Aptos"/>
                <a:cs typeface="Aptos"/>
              </a:defRPr>
            </a:lvl6pPr>
            <a:lvl7pPr algn="ctr">
              <a:defRPr sz="1350" b="1">
                <a:solidFill>
                  <a:srgbClr val="B6453A"/>
                </a:solidFill>
                <a:latin typeface="Aptos"/>
                <a:ea typeface="Aptos"/>
                <a:cs typeface="Aptos"/>
              </a:defRPr>
            </a:lvl7pPr>
            <a:lvl8pPr algn="ctr">
              <a:defRPr sz="1350" b="1">
                <a:solidFill>
                  <a:srgbClr val="B6453A"/>
                </a:solidFill>
                <a:latin typeface="Aptos"/>
                <a:ea typeface="Aptos"/>
                <a:cs typeface="Aptos"/>
              </a:defRPr>
            </a:lvl8pPr>
            <a:lvl9pPr algn="ctr">
              <a:defRPr sz="1350" b="1">
                <a:solidFill>
                  <a:srgbClr val="B645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B645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6453A"/>
                </a:solidFill>
                <a:latin typeface="Aptos"/>
                <a:ea typeface="Aptos"/>
                <a:cs typeface="Aptos"/>
              </a:rPr>
              <a:t>403 access_pending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5B32B2-FBB2-48A0-B1F8-B43716F7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19600"/>
            <a:ext cx="4267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8655F"/>
                </a:solidFill>
                <a:latin typeface="Aptos"/>
                <a:ea typeface="Aptos"/>
                <a:cs typeface="Aptos"/>
              </a:rPr>
              <a:t>Used when no accepted app role or valid employee identity reaches the backend.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6615C4-8C60-46A8-A653-EB18203B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48300"/>
            <a:ext cx="7467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5CC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New users start with zero twins. Twin creation or explicit sharing establishes data access.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5BDF9A-1D90-448D-8CD1-99767BA6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solidFill>
              <a:srgbClr val="D8D5C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9A13B7-75BE-4384-8CF7-18B70024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defPPr>
            <a:lvl1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1pPr>
            <a:lvl2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2pPr>
            <a:lvl3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3pPr>
            <a:lvl4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4pPr>
            <a:lvl5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5pPr>
            <a:lvl6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6pPr>
            <a:lvl7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7pPr>
            <a:lvl8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8pPr>
            <a:lvl9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8655F"/>
                </a:solidFill>
                <a:latin typeface="Aptos"/>
                <a:ea typeface="Aptos"/>
                <a:cs typeface="Aptos"/>
              </a:rPr>
              <a:t>Me.IDs authentication and access rights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E09475-B931-486C-B354-48888830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defPPr>
            <a:lvl1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1pPr>
            <a:lvl2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2pPr>
            <a:lvl3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3pPr>
            <a:lvl4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4pPr>
            <a:lvl5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5pPr>
            <a:lvl6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6pPr>
            <a:lvl7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7pPr>
            <a:lvl8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8pPr>
            <a:lvl9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8655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298371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DA9F99-7D0E-42D2-B7BD-B20D7678F64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972550" y="5438775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655F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02C66-D203-4C87-9F65-EA308D15580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62650" y="5438775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655F"/>
            </a:solidFill>
            <a:prstDash val="soli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EDAE9-05D1-40A2-A128-231D75AD7B4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05100" y="5438775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655F"/>
            </a:solidFill>
            <a:prstDash val="solid"/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1F56B1-6F87-498D-802B-FB6B5538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Application roles and data rights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55442-5C2F-4A7E-B7D4-C1095C90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8655F"/>
                </a:solidFill>
                <a:latin typeface="Aptos"/>
                <a:ea typeface="Aptos"/>
                <a:cs typeface="Aptos"/>
              </a:rPr>
              <a:t>App roles open the workspace. PostgreSQL decides which records the user may access.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33DD4-ADC2-44CA-9CBB-56040C3C8E16}"/>
              </a:ext>
            </a:extLst>
          </p:cNvPr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109728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143250"/>
                <a:gridCol w="1809750"/>
                <a:gridCol w="3924300"/>
              </a:tblGrid>
              <a:tr h="6477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APP ROLE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5CC"/>
                      </a:solidFill>
                      <a:prstDash val="solid"/>
                    </a:lnL>
                    <a:lnR w="9525">
                      <a:solidFill>
                        <a:srgbClr val="D8D5CC"/>
                      </a:solidFill>
                      <a:prstDash val="solid"/>
                    </a:lnR>
                    <a:lnT w="9525">
                      <a:solidFill>
                        <a:srgbClr val="D8D5CC"/>
                      </a:solidFill>
                      <a:prstDash val="solid"/>
                    </a:lnT>
                    <a:lnB w="9525">
                      <a:solidFill>
                        <a:srgbClr val="D8D5CC"/>
                      </a:solidFill>
                      <a:prstDash val="solid"/>
                    </a:lnB>
                    <a:solidFill>
                      <a:srgbClr val="171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5CC"/>
                      </a:solidFill>
                      <a:prstDash val="solid"/>
                    </a:lnR>
                    <a:lnT w="9525">
                      <a:solidFill>
                        <a:srgbClr val="D8D5CC"/>
                      </a:solidFill>
                      <a:prstDash val="solid"/>
                    </a:lnT>
                    <a:lnB w="9525">
                      <a:solidFill>
                        <a:srgbClr val="D8D5CC"/>
                      </a:solidFill>
                      <a:prstDash val="solid"/>
                    </a:lnB>
                    <a:solidFill>
                      <a:srgbClr val="171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ME.IDS ROLE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5CC"/>
                      </a:solidFill>
                      <a:prstDash val="solid"/>
                    </a:lnR>
                    <a:lnT w="9525">
                      <a:solidFill>
                        <a:srgbClr val="D8D5CC"/>
                      </a:solidFill>
                      <a:prstDash val="solid"/>
                    </a:lnT>
                    <a:lnB w="9525">
                      <a:solidFill>
                        <a:srgbClr val="D8D5CC"/>
                      </a:solidFill>
                      <a:prstDash val="solid"/>
                    </a:lnB>
                    <a:solidFill>
                      <a:srgbClr val="1719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EFFECT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5CC"/>
                      </a:solidFill>
                      <a:prstDash val="solid"/>
                    </a:lnR>
                    <a:lnT w="9525">
                      <a:solidFill>
                        <a:srgbClr val="D8D5CC"/>
                      </a:solidFill>
                      <a:prstDash val="solid"/>
                    </a:lnT>
                    <a:lnB w="9525">
                      <a:solidFill>
                        <a:srgbClr val="D8D5CC"/>
                      </a:solidFill>
                      <a:prstDash val="solid"/>
                    </a:lnB>
                    <a:solidFill>
                      <a:srgbClr val="17191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/>
                        <a:t>MeIDs.Employee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5CC"/>
                      </a:solidFill>
                      <a:prstDash val="solid"/>
                    </a:lnL>
                    <a:lnR w="9525">
                      <a:solidFill>
                        <a:srgbClr val="D8D5CC"/>
                      </a:solidFill>
                      <a:prstDash val="solid"/>
                    </a:lnR>
                    <a:lnB w="9525">
                      <a:solidFill>
                        <a:srgbClr val="D8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/>
                        <a:t>Eraneos workforce group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5CC"/>
                      </a:solidFill>
                      <a:prstDash val="solid"/>
                    </a:lnR>
                    <a:lnB w="9525">
                      <a:solidFill>
                        <a:srgbClr val="D8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/>
                        <a:t>viewer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5CC"/>
                      </a:solidFill>
                      <a:prstDash val="solid"/>
                    </a:lnR>
                    <a:lnB w="9525">
                      <a:solidFill>
                        <a:srgbClr val="D8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/>
                        <a:t>Potential internal user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5CC"/>
                      </a:solidFill>
                      <a:prstDash val="solid"/>
                    </a:lnR>
                    <a:lnB w="9525">
                      <a:solidFill>
                        <a:srgbClr val="D8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/>
                        <a:t>MeIDs.User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5CC"/>
                      </a:solidFill>
                      <a:prstDash val="solid"/>
                    </a:lnL>
                    <a:lnR w="9525">
                      <a:solidFill>
                        <a:srgbClr val="D8D5CC"/>
                      </a:solidFill>
                      <a:prstDash val="solid"/>
                    </a:lnR>
                    <a:lnB w="9525">
                      <a:solidFill>
                        <a:srgbClr val="D8D5CC"/>
                      </a:solidFill>
                      <a:prstDash val="soli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/>
                        <a:t>Me.IDs Users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5CC"/>
                      </a:solidFill>
                      <a:prstDash val="solid"/>
                    </a:lnR>
                    <a:lnB w="9525">
                      <a:solidFill>
                        <a:srgbClr val="D8D5CC"/>
                      </a:solidFill>
                      <a:prstDash val="soli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/>
                        <a:t>viewer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5CC"/>
                      </a:solidFill>
                      <a:prstDash val="solid"/>
                    </a:lnR>
                    <a:lnB w="9525">
                      <a:solidFill>
                        <a:srgbClr val="D8D5CC"/>
                      </a:solidFill>
                      <a:prstDash val="soli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/>
                        <a:t>Approved guest or exception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5CC"/>
                      </a:solidFill>
                      <a:prstDash val="solid"/>
                    </a:lnR>
                    <a:lnB w="9525">
                      <a:solidFill>
                        <a:srgbClr val="D8D5CC"/>
                      </a:solidFill>
                      <a:prstDash val="solid"/>
                    </a:lnB>
                    <a:solidFill>
                      <a:srgbClr val="EFECE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/>
                        <a:t>MeIDs.Owner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5CC"/>
                      </a:solidFill>
                      <a:prstDash val="solid"/>
                    </a:lnL>
                    <a:lnR w="9525">
                      <a:solidFill>
                        <a:srgbClr val="D8D5CC"/>
                      </a:solidFill>
                      <a:prstDash val="solid"/>
                    </a:lnR>
                    <a:lnB w="9525">
                      <a:solidFill>
                        <a:srgbClr val="D8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/>
                        <a:t>Me.IDs Owners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5CC"/>
                      </a:solidFill>
                      <a:prstDash val="solid"/>
                    </a:lnR>
                    <a:lnB w="9525">
                      <a:solidFill>
                        <a:srgbClr val="D8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/>
                        <a:t>owner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5CC"/>
                      </a:solidFill>
                      <a:prstDash val="solid"/>
                    </a:lnR>
                    <a:lnB w="9525">
                      <a:solidFill>
                        <a:srgbClr val="D8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/>
                        <a:t>Governed administration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5CC"/>
                      </a:solidFill>
                      <a:prstDash val="solid"/>
                    </a:lnR>
                    <a:lnB w="9525">
                      <a:solidFill>
                        <a:srgbClr val="D8D5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3BAEC-FD54-448C-8382-8A686A94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Data authorization after admission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27E0B-4F5A-4F6D-B4DD-DB86179A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2095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14288">
            <a:solidFill>
              <a:srgbClr val="B27400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identity.app_user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E22A0-14CD-4D30-B0A4-E5E994B7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124450"/>
            <a:ext cx="23241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EF0EC"/>
          </a:solidFill>
          <a:ln xmlns:a="http://schemas.openxmlformats.org/drawingml/2006/main" w="14288">
            <a:solidFill>
              <a:srgbClr val="56634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twin.user_twin_access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67525-A723-4FF4-9972-4242C095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24450"/>
            <a:ext cx="20764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EF0EC"/>
          </a:solidFill>
          <a:ln xmlns:a="http://schemas.openxmlformats.org/drawingml/2006/main" w="14288">
            <a:solidFill>
              <a:srgbClr val="56634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Row-level security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005BD-2E1C-499C-A959-149EB53E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124450"/>
            <a:ext cx="16954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EF0EC"/>
          </a:solidFill>
          <a:ln xmlns:a="http://schemas.openxmlformats.org/drawingml/2006/main" w="14288">
            <a:solidFill>
              <a:srgbClr val="56634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Scoped knowledge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C854C-663E-4737-B923-70C2503A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solidFill>
              <a:srgbClr val="D8D5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EF2000-6C45-4DD6-A20A-EA20AAE4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defPPr>
            <a:lvl1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1pPr>
            <a:lvl2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2pPr>
            <a:lvl3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3pPr>
            <a:lvl4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4pPr>
            <a:lvl5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5pPr>
            <a:lvl6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6pPr>
            <a:lvl7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7pPr>
            <a:lvl8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8pPr>
            <a:lvl9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8655F"/>
                </a:solidFill>
                <a:latin typeface="Aptos"/>
                <a:ea typeface="Aptos"/>
                <a:cs typeface="Aptos"/>
              </a:rPr>
              <a:t>Me.IDs authentication and access rights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4E933A-9BBC-4C74-B47D-1B5A15D5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defPPr>
            <a:lvl1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1pPr>
            <a:lvl2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2pPr>
            <a:lvl3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3pPr>
            <a:lvl4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4pPr>
            <a:lvl5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5pPr>
            <a:lvl6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6pPr>
            <a:lvl7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7pPr>
            <a:lvl8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8pPr>
            <a:lvl9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8655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451611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30062-7C68-4B0C-8C7A-1C8365D7618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220200" y="21240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655F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72485-1BA4-4338-9A7A-5DCE1269E6E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953250" y="21240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655F"/>
            </a:solidFill>
            <a:prstDash val="soli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61B0D-2A7F-41DB-8269-098C458BBD9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686300" y="21240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655F"/>
            </a:solidFill>
            <a:prstDash val="soli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843BB-FDA6-4DFE-9B13-474391CDA0C9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419350" y="21240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655F"/>
            </a:solidFill>
            <a:prstDash val="solid"/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4DAEB1-7C4B-4506-82D7-420D209D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Guest access and operating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A84AD-C40A-4A65-BBB3-6CE6F811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>
                <a:solidFill>
                  <a:srgbClr val="6865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8655F"/>
                </a:solidFill>
                <a:latin typeface="Aptos"/>
                <a:ea typeface="Aptos"/>
                <a:cs typeface="Aptos"/>
              </a:rPr>
              <a:t>B2B guests follow a governed lifecycle separate from broad employee eligibility.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0EF7C-5B9C-4E40-80EE-31AD5D35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18288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7F3F0"/>
          </a:solidFill>
          <a:ln xmlns:a="http://schemas.openxmlformats.org/drawingml/2006/main" w="14288">
            <a:solidFill>
              <a:srgbClr val="2B7A70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Sponsor</a:t>
            </a:r>
          </a:p>
          <a:p xmlns:a="http://schemas.openxmlformats.org/drawingml/2006/main">
            <a: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Internal request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E3820-6D3D-4E6C-8572-B463C0F5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14500"/>
            <a:ext cx="18288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7F3F0"/>
          </a:solidFill>
          <a:ln xmlns:a="http://schemas.openxmlformats.org/drawingml/2006/main" w="14288">
            <a:solidFill>
              <a:srgbClr val="2B7A70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B2B invite</a:t>
            </a:r>
          </a:p>
          <a:p xmlns:a="http://schemas.openxmlformats.org/drawingml/2006/main">
            <a: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Guest accepts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A7B5F-866D-49BC-9404-E848F173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14500"/>
            <a:ext cx="18288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7F3F0"/>
          </a:solidFill>
          <a:ln xmlns:a="http://schemas.openxmlformats.org/drawingml/2006/main" w="14288">
            <a:solidFill>
              <a:srgbClr val="2B7A70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Me.IDs Users</a:t>
            </a:r>
          </a:p>
          <a:p xmlns:a="http://schemas.openxmlformats.org/drawingml/2006/main">
            <a: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Direct membership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673BD-7F26-4484-8DD7-0357CBC9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714500"/>
            <a:ext cx="18288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7F3F0"/>
          </a:solidFill>
          <a:ln xmlns:a="http://schemas.openxmlformats.org/drawingml/2006/main" w="14288">
            <a:solidFill>
              <a:srgbClr val="2B7A70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First login</a:t>
            </a:r>
          </a:p>
          <a:p xmlns:a="http://schemas.openxmlformats.org/drawingml/2006/main">
            <a: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JIT provisioning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3D67B-31BF-47ED-BB15-0D7DC671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14500"/>
            <a:ext cx="18288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14288">
            <a:solidFill>
              <a:srgbClr val="B27400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Quarterly review</a:t>
            </a:r>
          </a:p>
          <a:p xmlns:a="http://schemas.openxmlformats.org/drawingml/2006/main">
            <a:pPr algn="ctr">
              <a:defRPr sz="1275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Keep or remove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FE4BC-C3E7-481A-994D-35A40E4C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Production controls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243F6A-C486-497E-9EF5-305A126A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2575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4288">
            <a:solidFill>
              <a:srgbClr val="396A9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Direct assignments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16AB9A-F602-43E8-BEA9-8ABBC9A2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defPPr>
            <a:lvl1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1pPr>
            <a:lvl2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2pPr>
            <a:lvl3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3pPr>
            <a:lvl4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4pPr>
            <a:lvl5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5pPr>
            <a:lvl6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6pPr>
            <a:lvl7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7pPr>
            <a:lvl8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8pPr>
            <a:lvl9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68655F"/>
                </a:solidFill>
                <a:latin typeface="Aptos"/>
                <a:ea typeface="Aptos"/>
                <a:cs typeface="Aptos"/>
              </a:rPr>
              <a:t>No nested groups or copied workforce lists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1E815-10BD-47A5-BC9D-FBCD9A21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90950"/>
            <a:ext cx="32575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0EC"/>
          </a:solidFill>
          <a:ln xmlns:a="http://schemas.openxmlformats.org/drawingml/2006/main" w="14288">
            <a:solidFill>
              <a:srgbClr val="56634F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Least privilege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80BAF-6DAC-43DB-98DB-9884E306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3865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defPPr>
            <a:lvl1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1pPr>
            <a:lvl2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2pPr>
            <a:lvl3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3pPr>
            <a:lvl4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4pPr>
            <a:lvl5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5pPr>
            <a:lvl6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6pPr>
            <a:lvl7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7pPr>
            <a:lvl8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8pPr>
            <a:lvl9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68655F"/>
                </a:solidFill>
                <a:latin typeface="Aptos"/>
                <a:ea typeface="Aptos"/>
                <a:cs typeface="Aptos"/>
              </a:rPr>
              <a:t>Employee and guest default to viewer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05CDF0-4220-493B-8E94-4CA14A17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90950"/>
            <a:ext cx="32575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BE8E6"/>
          </a:solidFill>
          <a:ln xmlns:a="http://schemas.openxmlformats.org/drawingml/2006/main" w="14288">
            <a:solidFill>
              <a:srgbClr val="B6453A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916"/>
                </a:solidFill>
                <a:latin typeface="Aptos"/>
                <a:ea typeface="Aptos"/>
                <a:cs typeface="Aptos"/>
              </a:rPr>
              <a:t>Revocation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5E54F4-E4FB-4115-ABD1-73F736A2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3865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defPPr>
            <a:lvl1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1pPr>
            <a:lvl2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2pPr>
            <a:lvl3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3pPr>
            <a:lvl4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4pPr>
            <a:lvl5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5pPr>
            <a:lvl6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6pPr>
            <a:lvl7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7pPr>
            <a:lvl8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8pPr>
            <a:lvl9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68655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68655F"/>
                </a:solidFill>
                <a:latin typeface="Aptos"/>
                <a:ea typeface="Aptos"/>
                <a:cs typeface="Aptos"/>
              </a:rPr>
              <a:t>Remove group assignment and refresh session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05F986-82F3-4254-9EBD-B701CF0F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2324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71916"/>
          </a:solidFill>
          <a:ln xmlns:a="http://schemas.openxmlformats.org/drawingml/2006/main" w="14288">
            <a:solidFill>
              <a:srgbClr val="171916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Activation dependency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25C4AC-2EFB-4F20-B2AC-3F9DCD39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314950"/>
            <a:ext cx="840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171916"/>
                </a:solidFill>
                <a:latin typeface="Aptos"/>
                <a:ea typeface="Aptos"/>
                <a:cs typeface="Aptos"/>
              </a:defRPr>
            </a:defPPr>
            <a:lvl1pPr>
              <a:defRPr sz="1350">
                <a:solidFill>
                  <a:srgbClr val="171916"/>
                </a:solidFill>
                <a:latin typeface="Aptos"/>
                <a:ea typeface="Aptos"/>
                <a:cs typeface="Aptos"/>
              </a:defRPr>
            </a:lvl1pPr>
            <a:lvl2pPr>
              <a:defRPr sz="1350">
                <a:solidFill>
                  <a:srgbClr val="171916"/>
                </a:solidFill>
                <a:latin typeface="Aptos"/>
                <a:ea typeface="Aptos"/>
                <a:cs typeface="Aptos"/>
              </a:defRPr>
            </a:lvl2pPr>
            <a:lvl3pPr>
              <a:defRPr sz="1350">
                <a:solidFill>
                  <a:srgbClr val="171916"/>
                </a:solidFill>
                <a:latin typeface="Aptos"/>
                <a:ea typeface="Aptos"/>
                <a:cs typeface="Aptos"/>
              </a:defRPr>
            </a:lvl3pPr>
            <a:lvl4pPr>
              <a:defRPr sz="1350">
                <a:solidFill>
                  <a:srgbClr val="171916"/>
                </a:solidFill>
                <a:latin typeface="Aptos"/>
                <a:ea typeface="Aptos"/>
                <a:cs typeface="Aptos"/>
              </a:defRPr>
            </a:lvl4pPr>
            <a:lvl5pPr>
              <a:defRPr sz="1350">
                <a:solidFill>
                  <a:srgbClr val="171916"/>
                </a:solidFill>
                <a:latin typeface="Aptos"/>
                <a:ea typeface="Aptos"/>
                <a:cs typeface="Aptos"/>
              </a:defRPr>
            </a:lvl5pPr>
            <a:lvl6pPr>
              <a:defRPr sz="1350">
                <a:solidFill>
                  <a:srgbClr val="171916"/>
                </a:solidFill>
                <a:latin typeface="Aptos"/>
                <a:ea typeface="Aptos"/>
                <a:cs typeface="Aptos"/>
              </a:defRPr>
            </a:lvl6pPr>
            <a:lvl7pPr>
              <a:defRPr sz="1350">
                <a:solidFill>
                  <a:srgbClr val="171916"/>
                </a:solidFill>
                <a:latin typeface="Aptos"/>
                <a:ea typeface="Aptos"/>
                <a:cs typeface="Aptos"/>
              </a:defRPr>
            </a:lvl7pPr>
            <a:lvl8pPr>
              <a:defRPr sz="1350">
                <a:solidFill>
                  <a:srgbClr val="171916"/>
                </a:solidFill>
                <a:latin typeface="Aptos"/>
                <a:ea typeface="Aptos"/>
                <a:cs typeface="Aptos"/>
              </a:defRPr>
            </a:lvl8pPr>
            <a:lvl9pPr>
              <a:defRPr sz="1350">
                <a:solidFill>
                  <a:srgbClr val="17191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>
                <a:solidFill>
                  <a:srgbClr val="171916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71916"/>
                </a:solidFill>
                <a:latin typeface="Aptos"/>
                <a:ea typeface="Aptos"/>
                <a:cs typeface="Aptos"/>
              </a:rPr>
              <a:t>Entra Cloud Application Administrator must create or authorize the Me.IDs Production app before the custom Static Web App provider is enabled.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FB6CAD-AE94-4094-8D9F-9A2EA567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solidFill>
              <a:srgbClr val="D8D5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49DD1D-1888-4C82-BA7D-E66BCF96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defPPr>
            <a:lvl1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1pPr>
            <a:lvl2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2pPr>
            <a:lvl3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3pPr>
            <a:lvl4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4pPr>
            <a:lvl5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5pPr>
            <a:lvl6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6pPr>
            <a:lvl7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7pPr>
            <a:lvl8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8pPr>
            <a:lvl9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8655F"/>
                </a:solidFill>
                <a:latin typeface="Aptos"/>
                <a:ea typeface="Aptos"/>
                <a:cs typeface="Aptos"/>
              </a:rPr>
              <a:t>Me.IDs authentication and access rights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081C99-440B-488C-A40B-702B082D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defPPr>
            <a:lvl1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1pPr>
            <a:lvl2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2pPr>
            <a:lvl3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3pPr>
            <a:lvl4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4pPr>
            <a:lvl5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5pPr>
            <a:lvl6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6pPr>
            <a:lvl7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7pPr>
            <a:lvl8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8pPr>
            <a:lvl9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825">
                <a:solidFill>
                  <a:srgbClr val="68655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8655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597406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2026-10-21T13:29:46.8390000Z</dcterms:created>
  <dcterms:modified xsi:type="dcterms:W3CDTF">2026-10-21T13:29:46.8390000Z</dcterms:modified>
</coreProperties>
</file>